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 Light"/>
      <p:regular r:id="rId15"/>
      <p:bold r:id="rId16"/>
      <p:italic r:id="rId17"/>
      <p:boldItalic r:id="rId18"/>
    </p:embeddedFont>
    <p:embeddedFont>
      <p:font typeface="Rajdhani SemiBold"/>
      <p:regular r:id="rId19"/>
      <p:bold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Rajdhani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jdhaniSemiBold-bold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jdhani-bold.fntdata"/><Relationship Id="rId25" Type="http://schemas.openxmlformats.org/officeDocument/2006/relationships/font" Target="fonts/Rajdhani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Light-regular.fntdata"/><Relationship Id="rId14" Type="http://schemas.openxmlformats.org/officeDocument/2006/relationships/slide" Target="slides/slide9.xml"/><Relationship Id="rId17" Type="http://schemas.openxmlformats.org/officeDocument/2006/relationships/font" Target="fonts/InterLight-italic.fntdata"/><Relationship Id="rId16" Type="http://schemas.openxmlformats.org/officeDocument/2006/relationships/font" Target="fonts/InterLight-bold.fntdata"/><Relationship Id="rId19" Type="http://schemas.openxmlformats.org/officeDocument/2006/relationships/font" Target="fonts/RajdhaniSemiBold-regular.fntdata"/><Relationship Id="rId18" Type="http://schemas.openxmlformats.org/officeDocument/2006/relationships/font" Target="fonts/Inter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18.png"/><Relationship Id="rId8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230641" y="2209800"/>
            <a:ext cx="5730716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PANTAD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367087" y="3381375"/>
            <a:ext cx="5457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B7280"/>
                </a:solidFill>
                <a:latin typeface="Inter Light"/>
                <a:ea typeface="Inter Light"/>
                <a:cs typeface="Inter Light"/>
                <a:sym typeface="Inter Light"/>
              </a:rPr>
              <a:t>SYSTEMET FÖR CIRKULÄR MIKRO-LOGISTIK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6712" y="422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586287" y="4238625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VISA REKLAMFILM: "ÄR DU PANTAD?"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2133600"/>
            <a:ext cx="5300662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81025" y="2569368"/>
            <a:ext cx="556569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NOLLVISION PÅ OPANTAD PANT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2969418"/>
            <a:ext cx="530066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En modern Next.js-baserad mjukvaruplattform som löser ett enormt miljöproblem genom crowdsourcing och smart logistik.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71525" y="3569493"/>
            <a:ext cx="5110162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100% Mjukvara: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Inga tunga hårdvaru- eller etableringskostnader.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71525" y="3926681"/>
            <a:ext cx="511016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Mikro-logistik: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Samlar upp källsorteringens glömda flaskor direkt från hemmen.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71525" y="4526756"/>
            <a:ext cx="511016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Gamification: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Bygger ett spel av återvinning via XP, streaks och samlar-tokens.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9837" y="2143125"/>
            <a:ext cx="5281612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81025" y="3569493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81025" y="3926681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81025" y="452675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VAD ÄR PANTAD?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52687"/>
            <a:ext cx="5300662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452687"/>
            <a:ext cx="5300662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04875" y="2747962"/>
            <a:ext cx="49156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E676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MARKNADSPOTENTIALEN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04875" y="4295775"/>
            <a:ext cx="468153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Vi matchar den glömda resursen med drivna utförare.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634162" y="2747962"/>
            <a:ext cx="49156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E676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STRATEGISK DIFFERENTIERING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95375" y="3148012"/>
            <a:ext cx="449103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500 000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hemlösa burkar skräpar ner i naturen årligen.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95375" y="3505200"/>
            <a:ext cx="449103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10 000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ungdomar i Västra Götaland söker extra inkomst.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95375" y="3862387"/>
            <a:ext cx="449103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95%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mindre energi krävs vid återvinning av aluminium.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824662" y="3148012"/>
            <a:ext cx="449103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Stena Recycling: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Makro-fokuserade på tung B2B. </a:t>
            </a:r>
            <a:r>
              <a:rPr b="0" i="1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Vi äger mikro-volymerna.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824662" y="3748087"/>
            <a:ext cx="449103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Returpack / Pantamera: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Kräver transport till butik. </a:t>
            </a:r>
            <a:r>
              <a:rPr b="0" i="1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Vi är deras digitala feeder.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824662" y="4348162"/>
            <a:ext cx="449103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RVM Systems: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Bundna till fast, dyr hårdvara. </a:t>
            </a:r>
            <a:r>
              <a:rPr b="0" i="1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Vi skalar globalt utan underhållskostnader.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04875" y="314801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04875" y="350520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04875" y="386238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634162" y="314801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634162" y="374808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634162" y="434816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VARFÖR PANTAD?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93181"/>
            <a:ext cx="5395912" cy="2509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2593181"/>
            <a:ext cx="5395912" cy="250983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904875" y="3450431"/>
            <a:ext cx="34804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GIVAREN (LÅG ANSTRÄNGNING)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04875" y="3850481"/>
            <a:ext cx="47767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Vill slippa kladd, doft och resan till mataffären. Gör en god gärning helt anonymt, utan fysisk interaktion med främlingar.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04875" y="4450556"/>
            <a:ext cx="23907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Inter"/>
                <a:ea typeface="Inter"/>
                <a:cs typeface="Inter"/>
                <a:sym typeface="Inter"/>
              </a:rPr>
              <a:t>"Släng ut, pinna i appen, klart."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538912" y="3450431"/>
            <a:ext cx="376047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HÄMTAREN (HÖG ANSTRÄNGNING)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538912" y="3850481"/>
            <a:ext cx="47767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Söker inkomst på egna villkor (Gen Z, studenter, utsatta). Drivs av dopamin, status, streaks och achievements.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538912" y="4450556"/>
            <a:ext cx="29718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"Pokémon GO-effekt möter mikrogig."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2926556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8912" y="2926556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FÖR VEM? BEHOVSANALYSEN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2438400"/>
            <a:ext cx="5300662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81025" y="2438400"/>
            <a:ext cx="556569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ÄGARSTRUKTUR &amp; LEDNING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81025" y="2838450"/>
            <a:ext cx="530066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Bolaget grundades under IPL25 vid Campus Mölndal med jämn aktiefördelning för långsiktigt och stabilt samarbete: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605587" y="2762250"/>
            <a:ext cx="42405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VARFÖR BILDADE VI ETT AKTIEBOLAG?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71525" y="3438525"/>
            <a:ext cx="5110162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Emilie de Paula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— Styrelseledamot (250 aktier)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71525" y="3795712"/>
            <a:ext cx="5110162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Simon Freidling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— Styrelseledamot (250 aktier)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71525" y="4152900"/>
            <a:ext cx="5110162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Jonas Andersson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— Styrelseledamot (250 aktier)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71525" y="4510087"/>
            <a:ext cx="5110162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Mikaela Rognelund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— Styrelseledamot (250 aktier)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771525" y="4867275"/>
            <a:ext cx="5110162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Lars Appel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— Verkställande Direktör (VD)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796087" y="3162300"/>
            <a:ext cx="45196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Ansvarsfördelning: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Möjliggör kollektivt risktagande och tillväxt.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796087" y="3762375"/>
            <a:ext cx="45196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Skalbarhet &amp; Skatt: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Flexibel hantering av intäkter och investeringar.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796087" y="4362450"/>
            <a:ext cx="45196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Trovärdighet: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Signalerar seriositet och stabilitet i offentliga upphandlingar samt gentemot partners (t.ex. Pressbyrån).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581025" y="343852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81025" y="379571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81025" y="415290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81025" y="451008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81025" y="486727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605587" y="316230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605587" y="376237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605587" y="436245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VILKA ÄR VI? (PANT AB)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128045"/>
            <a:ext cx="3195488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133600"/>
            <a:ext cx="5300662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581025" y="2668637"/>
            <a:ext cx="556569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TEKNIK-STACKEN BAKOM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581025" y="4627512"/>
            <a:ext cx="53006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[LIVE DEMO - Jonas app visas för klassen]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71525" y="3068687"/>
            <a:ext cx="511016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Supabase Realtime: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Millisekunds-synk på kartan förhindrar att samlare krockar vid hämtning.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771525" y="3668762"/>
            <a:ext cx="511016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Anti-Fusk via Geofencing:</a:t>
            </a:r>
            <a:r>
              <a:rPr b="0" i="0" lang="en-US" sz="12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 Haversine-formeln garanterar fysisk närvaro för XP-validering:</a:t>
            </a:r>
            <a:endParaRPr/>
          </a:p>
        </p:txBody>
      </p:sp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3425" y="4268837"/>
            <a:ext cx="2890688" cy="21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665612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19837" y="2143125"/>
            <a:ext cx="5281612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581025" y="3068687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581025" y="366876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&gt;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HUR GÖR VI DETTA?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1789211" y="2373659"/>
            <a:ext cx="8613427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"VI GÖR ÅTERVINNING BEKVÄMT FÖR DEN LATA, OCH LÖNSAMT SAMT ROLIGT FÖR DEN DRIVNA."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4433738" y="3503265"/>
            <a:ext cx="3324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E676"/>
                </a:solidFill>
                <a:latin typeface="Inter"/>
                <a:ea typeface="Inter"/>
                <a:cs typeface="Inter"/>
                <a:sym typeface="Inter"/>
              </a:rPr>
              <a:t>— PANT AB (Campus Mölndal IPL25)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1408211" y="4084290"/>
            <a:ext cx="93754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TACK FÖR ERT INTRESSE. SYSTEMET ÄR REDO FÖR START.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1312961" y="2611784"/>
            <a:ext cx="2667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"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10612190" y="3217515"/>
            <a:ext cx="2667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676"/>
                </a:solidFill>
                <a:latin typeface="Rajdhani"/>
                <a:ea typeface="Rajdhani"/>
                <a:cs typeface="Rajdhani"/>
                <a:sym typeface="Rajdhani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1824037" y="3081337"/>
            <a:ext cx="85439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1824037" y="3843337"/>
            <a:ext cx="85439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1824037" y="3843337"/>
            <a:ext cx="85439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4037" y="32242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2919412" y="3231356"/>
            <a:ext cx="74485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http://googleusercontent.com/image_collection/image_retrieval/12674054879087708479_0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2919412" y="3464718"/>
            <a:ext cx="7448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Beskrivning: Mobile app interface containing a location map with green nodes in futuristic dark theme ui.</a:t>
            </a:r>
            <a:endParaRPr/>
          </a:p>
        </p:txBody>
      </p:sp>
      <p:pic>
        <p:nvPicPr>
          <p:cNvPr descr="image.png" id="213" name="Google Shape;2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4037" y="39957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2919412" y="4002881"/>
            <a:ext cx="74485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http://googleusercontent.com/image_collection/image_retrieval/14085727636767488334_0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2919412" y="4236243"/>
            <a:ext cx="7448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Beskrivning: High-tech green screen with programming elements and matrix-inspired user interfaces.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KÄLLFÖRTECKNING FÖR BILDER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/>
          <p:nvPr/>
        </p:nvSpPr>
        <p:spPr>
          <a:xfrm>
            <a:off x="581025" y="2909887"/>
            <a:ext cx="110299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581025" y="38433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581025" y="384333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5" name="Google Shape;2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1384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1676400" y="3052762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https://preview.redd.it/google-maps-new-color-scheme-im-colorblind-v0-6jwujrvgknvg1.jpeg?width=640&amp;crop=smart&amp;auto=webp&amp;s=6e5435413e2d2bb51092a8d874bfdaa09349545b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676400" y="3471862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 Light"/>
                <a:ea typeface="Inter Light"/>
                <a:cs typeface="Inter Light"/>
                <a:sym typeface="Inter Light"/>
              </a:rPr>
              <a:t>www.reddit.com</a:t>
            </a:r>
            <a:endParaRPr/>
          </a:p>
        </p:txBody>
      </p:sp>
      <p:pic>
        <p:nvPicPr>
          <p:cNvPr descr="image.png" id="228" name="Google Shape;2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0814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1676400" y="3995737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https://elements-resized.envatousercontent.com/elements-video-cover-images/b5452f39-9b38-4938-8536-900edf7ba0ad/video_preview/video_preview_0000.jpg?w=500&amp;cf_fit=cover&amp;q=85&amp;format=auto&amp;s=ce5553fd420682fa1e18a07d5c40ca57e49ed3c4bac176aa91ebe51db53dc0d7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676400" y="4414837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Inter Light"/>
                <a:ea typeface="Inter Light"/>
                <a:cs typeface="Inter Light"/>
                <a:sym typeface="Inter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 Light"/>
                <a:ea typeface="Inter Light"/>
                <a:cs typeface="Inter Light"/>
                <a:sym typeface="Inter Light"/>
              </a:rPr>
              <a:t>elements.envato.com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IMAGE SOURCES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